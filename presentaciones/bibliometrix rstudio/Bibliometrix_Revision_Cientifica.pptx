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914400"/>
            <a:ext cx="2286000" cy="2286000"/>
          </a:xfrm>
          <a:prstGeom prst="rect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371600"/>
            <a:ext cx="1828800" cy="1828800"/>
          </a:xfrm>
          <a:prstGeom prst="rect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92608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349"/>
                </a:solidFill>
              </a:rPr>
              <a:t>Bibliometría Científica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Bibliometrix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Bibliométrico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Artículos de Revisión Científica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B3CC"/>
                </a:solidFill>
              </a:rPr>
              <a:t>Paquete de R para bibliometría avanzada · Ejemplos prácticos · Visualizaciones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4800600"/>
            <a:ext cx="8942832" cy="342900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Trabajo Científico  |  Oscar Iván Vargas Pineda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es Bibliometrix?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3566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Bibliometrix</a:t>
            </a:r>
            <a:pPr indent="0" marL="0">
              <a:buNone/>
            </a:pPr>
            <a:r>
              <a:rPr lang="en-US" sz="1200" dirty="0">
                <a:solidFill>
                  <a:srgbClr val="2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paquete de R de código abierto diseñado para realizar análisis bibliométricos y de cienciometría completos.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87A0"/>
                </a:solidFill>
              </a:rPr>
              <a:t>Desarrollado por: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Massimo Aria &amp; Corrado Cuccurullo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University of Naples Federico II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</a:t>
            </a:r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Publicado: </a:t>
            </a:r>
            <a:pPr indent="0" marL="0">
              <a:buNone/>
            </a:pPr>
            <a:r>
              <a:rPr lang="en-US" sz="1100" dirty="0">
                <a:solidFill>
                  <a:srgbClr val="2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Informetrics, 2017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</a:t>
            </a:r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web: 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bibliometrix.org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2057400" cy="41148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205740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Análisis de producción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20574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5E"/>
                </a:solidFill>
              </a:rPr>
              <a:t>Publicaciones por año, autor, país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00584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005840"/>
            <a:ext cx="2057400" cy="41148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005840"/>
            <a:ext cx="205740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Redes de co-citación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20574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5E"/>
                </a:solidFill>
              </a:rPr>
              <a:t>Relaciones entre autores y fuentes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2057400" cy="41148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🗺️ Mapas de ciencia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5E"/>
                </a:solidFill>
              </a:rPr>
              <a:t>Clustering temático avanzado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78892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788920"/>
            <a:ext cx="2057400" cy="41148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📈 Tendencias temáticas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5E"/>
                </a:solidFill>
              </a:rPr>
              <a:t>Evolución de tópicos en el tiempo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Flujo de Trabajo con Bibliometrix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08760" cy="3474720"/>
          </a:xfrm>
          <a:prstGeom prst="rect">
            <a:avLst/>
          </a:prstGeom>
          <a:solidFill>
            <a:srgbClr val="0D334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325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Descargar datos de WoS, Scopus, PubMed en formato BibTeX o 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560320"/>
            <a:ext cx="210312" cy="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05840"/>
            <a:ext cx="1508760" cy="3474720"/>
          </a:xfrm>
          <a:prstGeom prst="rect">
            <a:avLst/>
          </a:prstGeom>
          <a:solidFill>
            <a:srgbClr val="134E6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2130552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Conversión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286000"/>
            <a:ext cx="1325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convert2df() transforma los archivos al formato interno de Bibliometrix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02152" y="2560320"/>
            <a:ext cx="210312" cy="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05840"/>
            <a:ext cx="1508760" cy="3474720"/>
          </a:xfrm>
          <a:prstGeom prst="rect">
            <a:avLst/>
          </a:prstGeom>
          <a:solidFill>
            <a:srgbClr val="166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2464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03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3849624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12464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Análisis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3904" y="2286000"/>
            <a:ext cx="1325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biblioAnalysis() genera estadísticas descriptivas del conjunto de datos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21224" y="2560320"/>
            <a:ext cx="210312" cy="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05840"/>
            <a:ext cx="1508760" cy="3474720"/>
          </a:xfrm>
          <a:prstGeom prst="rect">
            <a:avLst/>
          </a:prstGeom>
          <a:solidFill>
            <a:srgbClr val="0085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31536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04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568696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31536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2976" y="2286000"/>
            <a:ext cx="1325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biblioNetwork() construye redes de colaboración, co-citación y acoplamiento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2560320"/>
            <a:ext cx="210312" cy="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05840"/>
            <a:ext cx="1508760" cy="34747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0608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05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7287768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150608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Visualización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2286000"/>
            <a:ext cx="1325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networkPlot() y biblioshiny() para mapas interactivos y gráficos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library(bibliometrix)  |  M &lt;- convert2df("scopus.bib", dbsource="scopus", format="bibtex")  |  results &lt;- biblioAnalysis(M)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Análisis Descriptivo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</a:rPr>
              <a:t>Función: biblioAnalysis() + summary()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6276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62763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" y="16002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Total Documentos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87A0"/>
                </a:solidFill>
              </a:rPr>
              <a:t>Artículos, reviews, etc.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960120"/>
            <a:ext cx="16276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960120"/>
            <a:ext cx="162763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98424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84248" y="16002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Autores únicos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84248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87A0"/>
                </a:solidFill>
              </a:rPr>
              <a:t>Análisis de autoría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9896" y="960120"/>
            <a:ext cx="16276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9896" y="960120"/>
            <a:ext cx="162763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739896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739896" y="16002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Período temporal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39896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87A0"/>
                </a:solidFill>
              </a:rPr>
              <a:t>Distribución por año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5544" y="960120"/>
            <a:ext cx="16276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95544" y="960120"/>
            <a:ext cx="162763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495544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95544" y="16002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Países productores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95544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87A0"/>
                </a:solidFill>
              </a:rPr>
              <a:t>Colaboración internacional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51192" y="960120"/>
            <a:ext cx="16276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51192" y="960120"/>
            <a:ext cx="162763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📰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251192" y="16002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Fuentes / Journals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51192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87A0"/>
                </a:solidFill>
              </a:rPr>
              <a:t>Ley de Bradford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603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560320"/>
            <a:ext cx="4023360" cy="384048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⌨️  Funciones principales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3035808"/>
            <a:ext cx="1828800" cy="347472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summary(results, k=10)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40280" y="30358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Muestra top 10 de cada categoría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511296"/>
            <a:ext cx="1828800" cy="347472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results$AnnualGrowthRate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40280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Tasa de crecimiento anual (CAGR)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986784"/>
            <a:ext cx="1828800" cy="347472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results$MostCitedPapers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40280" y="398678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Documentos más citados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462272"/>
            <a:ext cx="1828800" cy="347472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462272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results$TCperYear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40280" y="44622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Citas por año promedio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256032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560320"/>
            <a:ext cx="420624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2560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</a:rPr>
              <a:t>📐  Leyes bibliométricas evaluadas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3035808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9" name="Text 47"/>
          <p:cNvSpPr/>
          <p:nvPr/>
        </p:nvSpPr>
        <p:spPr>
          <a:xfrm>
            <a:off x="4846320" y="30358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Ley de Lotka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92240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Productividad de autores científicos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3511296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3511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Ley de Bradford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92240" y="35112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Dispersión en fuentes bibliográficas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9160" y="3986784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Ley de Zipf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92240" y="3986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Frecuencia de palabras clave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09160" y="4462272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44622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Índice H promedio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4462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Impacto científico del campo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Análisis de Redes Bibliométricas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874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4572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Co-citación de Autores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27048"/>
            <a:ext cx="3840480" cy="292608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27048"/>
            <a:ext cx="38404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biblioNetwork(M, analysis="Co-citation", network="authors")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Identifica autores que son citados juntos frecuentemente. Revela estructuras intelectuales del campo.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54864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404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2F3D"/>
                </a:solidFill>
              </a:rPr>
              <a:t>¿Quiénes son las autoridades intelectuales del área?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1874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Acoplamiento Bibliográfico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527048"/>
            <a:ext cx="3840480" cy="292608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527048"/>
            <a:ext cx="38404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biblioNetwork(M, analysis="Coupling", network="references")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Agrupa documentos que comparten referencias comunes. Detecta corrientes de investigación actuales.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404872"/>
            <a:ext cx="54864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404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2F3D"/>
                </a:solidFill>
              </a:rPr>
              <a:t>¿Qué documentos recientes pertenecen al mismo frente?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4114800" cy="1874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71800"/>
            <a:ext cx="4114800" cy="457200"/>
          </a:xfrm>
          <a:prstGeom prst="rect">
            <a:avLst/>
          </a:prstGeom>
          <a:solidFill>
            <a:srgbClr val="166E6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Co-autoría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38728"/>
            <a:ext cx="3840480" cy="292608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biblioNetwork(M, analysis="Collaboration", network="authors")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886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Mapea colaboraciones entre autores, instituciones y países. Muestra redes de trabajo conjunto.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16552"/>
            <a:ext cx="54864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416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2F3D"/>
                </a:solidFill>
              </a:rPr>
              <a:t>¿Quiénes colaboran entre sí en esta temática?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114800" cy="1874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71800"/>
            <a:ext cx="4114800" cy="45720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Co-ocurrencia de Keywords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538728"/>
            <a:ext cx="3840480" cy="292608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biblioNetwork(M, analysis="Co-occurrences", network="keywords")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886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Analiza palabras clave que aparecen juntas. Permite mapear la estructura conceptual del área.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4416552"/>
            <a:ext cx="54864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4416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2F3D"/>
                </a:solidFill>
              </a:rPr>
              <a:t>¿Cuáles son los tópicos centrales y periféricos?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Estructura Conceptual y Análisis Temático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E"/>
                </a:solidFill>
              </a:rPr>
              <a:t>La estructura conceptual mapea las relaciones entre términos y conceptos dentro de un campo de investigación, revelando temas emergentes, nucleares y nicho.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91640"/>
            <a:ext cx="2788920" cy="4572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Mapa Temático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2240280"/>
            <a:ext cx="2578608" cy="685800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2240280"/>
            <a:ext cx="2578608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thematicMap(Net, n=250, minfreq=5,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stemming=FALSE)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" y="3017520"/>
            <a:ext cx="45720" cy="30175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Motor: alta densidad + centralidad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3456432"/>
            <a:ext cx="45720" cy="30175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564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Nicho: alta densidad + baja centralidad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" y="3895344"/>
            <a:ext cx="45720" cy="30175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953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Emergente: baja densidad + alta centralidad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" y="4334256"/>
            <a:ext cx="45720" cy="30175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342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Básico: baja densidad + centralidad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69164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691640"/>
            <a:ext cx="2788920" cy="457200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Análisis de Factores / MCA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4408" y="2240280"/>
            <a:ext cx="2578608" cy="685800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24" name="Text 22"/>
          <p:cNvSpPr/>
          <p:nvPr/>
        </p:nvSpPr>
        <p:spPr>
          <a:xfrm>
            <a:off x="3264408" y="2240280"/>
            <a:ext cx="2578608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conceptualStructure(M,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method="MCA", k.max=8,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minfreq=10)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3017520"/>
            <a:ext cx="45720" cy="301752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01752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Agrupa conceptos por co-ocurrencia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64408" y="3456432"/>
            <a:ext cx="45720" cy="301752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4564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Visualiza clústeres semánticos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64408" y="3895344"/>
            <a:ext cx="45720" cy="301752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38953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Detecta palabras clave dominantes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4334256"/>
            <a:ext cx="45720" cy="301752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43342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Ideal para mapas 2D de conceptos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169164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1691640"/>
            <a:ext cx="2788920" cy="457200"/>
          </a:xfrm>
          <a:prstGeom prst="rect">
            <a:avLst/>
          </a:prstGeom>
          <a:solidFill>
            <a:srgbClr val="166E6B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Evolución Temática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0488" y="2240280"/>
            <a:ext cx="2578608" cy="685800"/>
          </a:xfrm>
          <a:prstGeom prst="rect">
            <a:avLst/>
          </a:prstGeom>
          <a:solidFill>
            <a:srgbClr val="1A2F3D"/>
          </a:solidFill>
          <a:ln/>
        </p:spPr>
      </p:sp>
      <p:sp>
        <p:nvSpPr>
          <p:cNvPr id="37" name="Text 35"/>
          <p:cNvSpPr/>
          <p:nvPr/>
        </p:nvSpPr>
        <p:spPr>
          <a:xfrm>
            <a:off x="6190488" y="2240280"/>
            <a:ext cx="2578608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thematicEvolution(M,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years=c(2010,2015,2020,2023),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n=100)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0488" y="3017520"/>
            <a:ext cx="45720" cy="301752"/>
          </a:xfrm>
          <a:prstGeom prst="rect">
            <a:avLst/>
          </a:prstGeom>
          <a:solidFill>
            <a:srgbClr val="166E6B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01752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Muestra cambios de temas por período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0488" y="3456432"/>
            <a:ext cx="45720" cy="301752"/>
          </a:xfrm>
          <a:prstGeom prst="rect">
            <a:avLst/>
          </a:prstGeom>
          <a:solidFill>
            <a:srgbClr val="166E6B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4564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Flujos Sankey entre etapas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0488" y="3895344"/>
            <a:ext cx="45720" cy="301752"/>
          </a:xfrm>
          <a:prstGeom prst="rect">
            <a:avLst/>
          </a:prstGeom>
          <a:solidFill>
            <a:srgbClr val="166E6B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8953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Detecta temas estables vs. emergentes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0488" y="4334256"/>
            <a:ext cx="45720" cy="301752"/>
          </a:xfrm>
          <a:prstGeom prst="rect">
            <a:avLst/>
          </a:prstGeom>
          <a:solidFill>
            <a:srgbClr val="166E6B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3342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Crucial para revisiones longitudinales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biblioshiny() · Interfaz Interactiva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10058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E"/>
                </a:solidFill>
              </a:rPr>
              <a:t>biblioshiny() es la interfaz gráfica Shiny integrada en Bibliometrix que permite realizar todos los análisis sin escribir código, ideal para investigadores con poca experiencia en 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960120"/>
            <a:ext cx="4480560" cy="1005840"/>
          </a:xfrm>
          <a:prstGeom prst="rect">
            <a:avLst/>
          </a:prstGeom>
          <a:solidFill>
            <a:srgbClr val="1A2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y lanzar biblioshiny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26280" y="129844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install.packages('bibliometrix')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library(bibliometrix)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biblioshiny()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278892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73152" cy="118872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📂 Importación de datos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Carga archivos BibTeX, CSV y RIS desde WoS, Scopus y Lens.org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2148840"/>
            <a:ext cx="278892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148840"/>
            <a:ext cx="73152" cy="118872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📊 Dashboard estadístico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Visualización inmediata de métricas clave de producción científica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148840"/>
            <a:ext cx="278892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148840"/>
            <a:ext cx="73152" cy="118872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🗺️ Mapas de ciencia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Genera mapas interactivos de redes con exportación en alta resolución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474720"/>
            <a:ext cx="278892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474720"/>
            <a:ext cx="73152" cy="118872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📈 Evolución temporal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886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Gráficos animados de tendencias y crecimiento por período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3474720"/>
            <a:ext cx="278892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474720"/>
            <a:ext cx="73152" cy="118872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🏷️ Análisis de keywords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Nubes de palabras, co-ocurrencia y análisis de términos MeSH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474720"/>
            <a:ext cx="278892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474720"/>
            <a:ext cx="73152" cy="1188720"/>
          </a:xfrm>
          <a:prstGeom prst="rect">
            <a:avLst/>
          </a:prstGeom>
          <a:solidFill>
            <a:srgbClr val="00857A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D"/>
                </a:solidFill>
              </a:rPr>
              <a:t>💾 Exportación total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Descarga tablas Excel, figuras PDF y scripts R reproducibles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Ejemplo Práctico: Revisión sobre Agroforestería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846320" cy="3886200"/>
          </a:xfrm>
          <a:prstGeom prst="rect">
            <a:avLst/>
          </a:prstGeom>
          <a:solidFill>
            <a:srgbClr val="1A2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SCRIPT COMPLETO DE REVISIÓN ===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buNone/>
            </a:pPr>
            <a:r>
              <a:rPr lang="en-US" sz="9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(bibliometrix)
</a:t>
            </a:r>
            <a:pPr indent="0" marL="0">
              <a:buNone/>
            </a:pPr>
            <a:r>
              <a:rPr lang="en-US" sz="950" i="1" dirty="0">
                <a:solidFill>
                  <a:srgbClr val="5E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1. Cargar y convertir datos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convert2df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("scopus.bib", dbsource=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"scopus"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format=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"bibtex"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i="1" dirty="0">
                <a:solidFill>
                  <a:srgbClr val="5E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2. Análisis descriptivo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biblioAnalysis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 sep=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(res, k=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pause=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i="1" dirty="0">
                <a:solidFill>
                  <a:srgbClr val="5E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3. Red de co-citación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biblioNetwork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 analysis=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"Co-Citation"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network=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"references"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networkPlot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(Net, n=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Title=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"Co-Citation"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type=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"fruchterman"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size=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i="1" dirty="0">
                <a:solidFill>
                  <a:srgbClr val="5E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4. Mapa temático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thematicMap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(Net, n=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minfreq=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(Map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map)
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49240" y="914400"/>
            <a:ext cx="352044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914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49"/>
                </a:solidFill>
              </a:rPr>
              <a:t>📋  Resultados obtenidos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417320"/>
            <a:ext cx="3520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4356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87A0"/>
                </a:solidFill>
              </a:rPr>
              <a:t>📄 Documentos encontrados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40680" y="16733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1,247 artículos (2000–2023)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1984248"/>
            <a:ext cx="3520440" cy="47548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20025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87A0"/>
                </a:solidFill>
              </a:rPr>
              <a:t>👤 Autores únicos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22402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3,891 autores de 78 países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2551176"/>
            <a:ext cx="3520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2569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87A0"/>
                </a:solidFill>
              </a:rPr>
              <a:t>📈 Crecimiento anual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28072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CAGR = 8.3% últimos 10 años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118104"/>
            <a:ext cx="3520440" cy="47548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3136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87A0"/>
                </a:solidFill>
              </a:rPr>
              <a:t>🔝 Top journal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337413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Agroforestry Systems (H=82)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3685032"/>
            <a:ext cx="3520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0680" y="37033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87A0"/>
                </a:solidFill>
              </a:rPr>
              <a:t>🌐 Países líderes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39410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India, Brasil, EE.UU., Kenya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4251960"/>
            <a:ext cx="3520440" cy="47548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40680" y="42702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87A0"/>
                </a:solidFill>
              </a:rPr>
              <a:t>🏷️ Keywords centrales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450799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D"/>
                </a:solidFill>
              </a:rPr>
              <a:t>"shade trees", "carbon", "biodiversity"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Integración con Revisiones PRISMA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377440" cy="685800"/>
          </a:xfrm>
          <a:prstGeom prst="rect">
            <a:avLst/>
          </a:prstGeom>
          <a:solidFill>
            <a:srgbClr val="0D334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IDENTIFICACIÓN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441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Scopus + WoS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= 4,512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691640"/>
            <a:ext cx="0" cy="22860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2377440" cy="685800"/>
          </a:xfrm>
          <a:prstGeom prst="rect">
            <a:avLst/>
          </a:prstGeom>
          <a:solidFill>
            <a:srgbClr val="134E6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CRIBADO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Tras deduplicación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= 3,241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514600"/>
            <a:ext cx="0" cy="22860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51760"/>
            <a:ext cx="2377440" cy="685800"/>
          </a:xfrm>
          <a:prstGeom prst="rect">
            <a:avLst/>
          </a:prstGeom>
          <a:solidFill>
            <a:srgbClr val="166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ELEGIBILIDAD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9900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Revisión de texto completo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= 892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54480" y="3337560"/>
            <a:ext cx="0" cy="228600"/>
          </a:xfrm>
          <a:prstGeom prst="line">
            <a:avLst/>
          </a:prstGeom>
          <a:noFill/>
          <a:ln w="25400">
            <a:solidFill>
              <a:srgbClr val="5E87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74720"/>
            <a:ext cx="2377440" cy="6858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INCLUIDOS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813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Análisis bibliométrico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= 547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914400"/>
            <a:ext cx="5943600" cy="38404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914400"/>
            <a:ext cx="59436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9144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49"/>
                </a:solidFill>
              </a:rPr>
              <a:t>Tareas de Bibliometrix por etapa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1399032"/>
            <a:ext cx="1280160" cy="25603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23" name="Text 21"/>
          <p:cNvSpPr/>
          <p:nvPr/>
        </p:nvSpPr>
        <p:spPr>
          <a:xfrm>
            <a:off x="2971800" y="1399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IDENTIFICACIÓN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1691640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169164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Importar BibTeX/CSV de múltiples bases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1874520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187452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convert2df() para unificar formatos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2057400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3154680" y="205740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Eliminar duplicados: duplicatedMatching()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71800" y="2203704"/>
            <a:ext cx="1280160" cy="25603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1" name="Text 29"/>
          <p:cNvSpPr/>
          <p:nvPr/>
        </p:nvSpPr>
        <p:spPr>
          <a:xfrm>
            <a:off x="2971800" y="22037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CRIBADO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017520" y="2496312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3154680" y="2496312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Filtrar por año: M[M$PY&gt;=2010,]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17520" y="2679192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3154680" y="2679192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Filtrar por documento type: 'ARTICLE'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2862072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3154680" y="2862072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Exportar lista filtrada a Excel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3008376"/>
            <a:ext cx="1280160" cy="25603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39" name="Text 37"/>
          <p:cNvSpPr/>
          <p:nvPr/>
        </p:nvSpPr>
        <p:spPr>
          <a:xfrm>
            <a:off x="2971800" y="3008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ELEGIBILIDAD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17520" y="3300984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3154680" y="3300984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Análisis de abstracts con text mining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17520" y="3483864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3" name="Text 41"/>
          <p:cNvSpPr/>
          <p:nvPr/>
        </p:nvSpPr>
        <p:spPr>
          <a:xfrm>
            <a:off x="3154680" y="3483864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Clasificación por relevancia temática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17520" y="3666744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5" name="Text 43"/>
          <p:cNvSpPr/>
          <p:nvPr/>
        </p:nvSpPr>
        <p:spPr>
          <a:xfrm>
            <a:off x="3154680" y="3666744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Visualización de keywords para filtro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71800" y="3813048"/>
            <a:ext cx="1280160" cy="256032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47" name="Text 45"/>
          <p:cNvSpPr/>
          <p:nvPr/>
        </p:nvSpPr>
        <p:spPr>
          <a:xfrm>
            <a:off x="2971800" y="38130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INCLUIDOS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017520" y="4105656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9" name="Text 47"/>
          <p:cNvSpPr/>
          <p:nvPr/>
        </p:nvSpPr>
        <p:spPr>
          <a:xfrm>
            <a:off x="3154680" y="4105656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biblioAnalysis() → estadísticas descriptivas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17520" y="4288536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1" name="Text 49"/>
          <p:cNvSpPr/>
          <p:nvPr/>
        </p:nvSpPr>
        <p:spPr>
          <a:xfrm>
            <a:off x="3154680" y="4288536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biblioNetwork() → redes de co-citación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17520" y="4471416"/>
            <a:ext cx="4572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3" name="Text 51"/>
          <p:cNvSpPr/>
          <p:nvPr/>
        </p:nvSpPr>
        <p:spPr>
          <a:xfrm>
            <a:off x="3154680" y="4471416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E"/>
                </a:solidFill>
              </a:rPr>
              <a:t>thematicMap() → estructura conceptual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</a:rPr>
              <a:t>Bibliometrix · Análisis bibliométrico con 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4892040"/>
            <a:ext cx="8942832" cy="251460"/>
          </a:xfrm>
          <a:prstGeom prst="rect">
            <a:avLst/>
          </a:prstGeom>
          <a:solidFill>
            <a:srgbClr val="134E6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4A261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Conclusiones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Bibliometrix: herramienta esencial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revisión científica moderna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Integra análisis cuantitativo con interpretación cualitativa del conocimiento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Compatible con WoS, Scopus, Lens.org y PubMed en múltiples formatos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biblioshiny() democratiza el análisis para investigadores sin experiencia en código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6674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Los mapas temáticos y de redes mejoran la estructura argumental de los artículos de revisión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422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Reproducible y citable: genera scripts documentados para revisión por pares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A9B"/>
                </a:solidFill>
              </a:rPr>
              <a:t>📖  Aria &amp; Cuccurullo (2017). bibliometrix: An R-tool for comprehensive science mapping analysis.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A7A9B"/>
                </a:solidFill>
              </a:rPr>
              <a:t>Journal of Informetrics, 11(4), 959-975. doi:10.1016/j.joi.2017.08.007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Bibliometrix para Artículos de Revisión</dc:title>
  <dc:subject>PptxGenJS Presentation</dc:subject>
  <dc:creator>Trabajo Científico</dc:creator>
  <cp:lastModifiedBy>Trabajo Científico</cp:lastModifiedBy>
  <cp:revision>1</cp:revision>
  <dcterms:created xsi:type="dcterms:W3CDTF">2026-03-11T13:15:07Z</dcterms:created>
  <dcterms:modified xsi:type="dcterms:W3CDTF">2026-03-11T13:15:07Z</dcterms:modified>
</cp:coreProperties>
</file>